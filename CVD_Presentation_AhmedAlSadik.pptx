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16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8288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0" b="0">
                <a:solidFill>
                  <a:srgbClr val="FF5677"/>
                </a:solidFill>
                <a:latin typeface="Calibri"/>
              </a:rPr>
              <a:t>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194560"/>
            <a:ext cx="93268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200" b="1">
                <a:solidFill>
                  <a:srgbClr val="E8ECF7"/>
                </a:solidFill>
                <a:latin typeface="Calibri"/>
              </a:rPr>
              <a:t>Cardiovascular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834640"/>
            <a:ext cx="9326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200" b="1">
                <a:solidFill>
                  <a:srgbClr val="FF5677"/>
                </a:solidFill>
                <a:latin typeface="Calibri"/>
              </a:rPr>
              <a:t>Risk Prediction &amp; Prevention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840480"/>
            <a:ext cx="9326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6ADC6"/>
                </a:solidFill>
                <a:latin typeface="Calibri"/>
              </a:rPr>
              <a:t>A Two-Phase Data Science with AI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297680"/>
            <a:ext cx="9326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A6ADC6"/>
                </a:solidFill>
                <a:latin typeface="Calibri"/>
              </a:rPr>
              <a:t>DSA502 — Data Science with AI    |    Final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38E1C3"/>
                </a:solidFill>
                <a:latin typeface="Calibri"/>
              </a:rPr>
              <a:t>Presented by  Ahmed Al Sadik    ·    B00983817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A6ADC6"/>
                </a:solidFill>
                <a:latin typeface="Calibri"/>
              </a:rPr>
              <a:t>GitHub: https://github.com/s2010958184-lab/SADIKCVDFINAL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FF5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E8ECF7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A6ADC6"/>
                </a:solidFill>
                <a:latin typeface="Calibri"/>
              </a:rPr>
              <a:t>A 12-minute tour of the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8E1C3"/>
                </a:solidFill>
                <a:latin typeface="Calibri"/>
              </a:rPr>
              <a:t>▸  </a:t>
            </a:r>
            <a:r>
              <a:rPr sz="1800">
                <a:solidFill>
                  <a:srgbClr val="E8ECF7"/>
                </a:solidFill>
                <a:latin typeface="Calibri"/>
              </a:rPr>
              <a:t>Problem &amp; motivation — why CVD, why now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38E1C3"/>
                </a:solidFill>
                <a:latin typeface="Calibri"/>
              </a:rPr>
              <a:t>▸  </a:t>
            </a:r>
            <a:r>
              <a:rPr sz="1800">
                <a:solidFill>
                  <a:srgbClr val="E8ECF7"/>
                </a:solidFill>
                <a:latin typeface="Calibri"/>
              </a:rPr>
              <a:t>Data — five cohorts, ~480 000 rows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38E1C3"/>
                </a:solidFill>
                <a:latin typeface="Calibri"/>
              </a:rPr>
              <a:t>▸  </a:t>
            </a:r>
            <a:r>
              <a:rPr sz="1800">
                <a:solidFill>
                  <a:srgbClr val="E8ECF7"/>
                </a:solidFill>
                <a:latin typeface="Calibri"/>
              </a:rPr>
              <a:t>Phase 1 — EDA, baseline, clinical insights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38E1C3"/>
                </a:solidFill>
                <a:latin typeface="Calibri"/>
              </a:rPr>
              <a:t>▸  </a:t>
            </a:r>
            <a:r>
              <a:rPr sz="1800">
                <a:solidFill>
                  <a:srgbClr val="E8ECF7"/>
                </a:solidFill>
                <a:latin typeface="Calibri"/>
              </a:rPr>
              <a:t>Phase 2 — schema harmonisation + multi-model retrain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38E1C3"/>
                </a:solidFill>
                <a:latin typeface="Calibri"/>
              </a:rPr>
              <a:t>▸  </a:t>
            </a:r>
            <a:r>
              <a:rPr sz="1800">
                <a:solidFill>
                  <a:srgbClr val="E8ECF7"/>
                </a:solidFill>
                <a:latin typeface="Calibri"/>
              </a:rPr>
              <a:t>External validation — zero-shot on UCI + Z-Alizadeh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38E1C3"/>
                </a:solidFill>
                <a:latin typeface="Calibri"/>
              </a:rPr>
              <a:t>▸  </a:t>
            </a:r>
            <a:r>
              <a:rPr sz="1800">
                <a:solidFill>
                  <a:srgbClr val="E8ECF7"/>
                </a:solidFill>
                <a:latin typeface="Calibri"/>
              </a:rPr>
              <a:t>Hyperparameter tuning + calibration + threshold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38E1C3"/>
                </a:solidFill>
                <a:latin typeface="Calibri"/>
              </a:rPr>
              <a:t>▸  </a:t>
            </a:r>
            <a:r>
              <a:rPr sz="1800">
                <a:solidFill>
                  <a:srgbClr val="E8ECF7"/>
                </a:solidFill>
                <a:latin typeface="Calibri"/>
              </a:rPr>
              <a:t>Interpretability + subgroup fairness audit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38E1C3"/>
                </a:solidFill>
                <a:latin typeface="Calibri"/>
              </a:rPr>
              <a:t>▸  </a:t>
            </a:r>
            <a:r>
              <a:rPr sz="1800">
                <a:solidFill>
                  <a:srgbClr val="E8ECF7"/>
                </a:solidFill>
                <a:latin typeface="Calibri"/>
              </a:rPr>
              <a:t>Model card + responsible AI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38E1C3"/>
                </a:solidFill>
                <a:latin typeface="Calibri"/>
              </a:rPr>
              <a:t>▸  </a:t>
            </a:r>
            <a:r>
              <a:rPr sz="1800">
                <a:solidFill>
                  <a:srgbClr val="E8ECF7"/>
                </a:solidFill>
                <a:latin typeface="Calibri"/>
              </a:rPr>
              <a:t>HeartGuard — productisation demo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38E1C3"/>
                </a:solidFill>
                <a:latin typeface="Calibri"/>
              </a:rPr>
              <a:t>▸  </a:t>
            </a:r>
            <a:r>
              <a:rPr sz="1800">
                <a:solidFill>
                  <a:srgbClr val="E8ECF7"/>
                </a:solidFill>
                <a:latin typeface="Calibri"/>
              </a:rPr>
              <a:t>Conclusions, limitations,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FF5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E8ECF7"/>
                </a:solidFill>
                <a:latin typeface="Calibri"/>
              </a:rP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5677"/>
                </a:solidFill>
                <a:latin typeface="Calibri"/>
              </a:rPr>
              <a:t>Cardiovascular disease is the #1 cause of death globally.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18.6 million deaths in 2023 (WHO).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Up to 80 % of premature CVD deaths are preventable through early detection + lifestyle.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Canadian CVD costs &gt; $22 B/year (Heart &amp; Stroke).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Existing screening tools (Framingham, ASCVD) use clinical risk factors only — they do not use lifestyle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8E1C3"/>
                </a:solidFill>
                <a:latin typeface="Calibri"/>
              </a:rPr>
              <a:t>Three interlocked clinical questions: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F5677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Can we predict CVD from routine clinical + lifestyle measurements at AUC ≥ 0.80?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F5677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Can model-derived risk tiers drive safe, personalised exercise plans?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F5677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Can a continuous-care app deliver actionable daily prevention guidance?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FF5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E8ECF7"/>
                </a:solidFill>
                <a:latin typeface="Calibri"/>
              </a:rPr>
              <a:t>Data — five harmonised cohorts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A6ADC6"/>
                </a:solidFill>
                <a:latin typeface="Calibri"/>
              </a:rPr>
              <a:t>Pooled to ~480 000 rows across geographies, ages, ethnicities.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247120" cy="685800"/>
          </a:xfrm>
          <a:prstGeom prst="roundRect">
            <a:avLst/>
          </a:prstGeom>
          <a:solidFill>
            <a:srgbClr val="161A35"/>
          </a:solidFill>
          <a:ln w="12700">
            <a:solidFill>
              <a:srgbClr val="FF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E8ECF7"/>
                </a:solidFill>
                <a:latin typeface="Calibri"/>
              </a:rPr>
              <a:t>Kaggle Sulianova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19072"/>
            <a:ext cx="1645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5677"/>
                </a:solidFill>
                <a:latin typeface="Calibri"/>
              </a:rPr>
              <a:t>n = 70 000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719072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A6ADC6"/>
                </a:solidFill>
                <a:latin typeface="Calibri"/>
              </a:rPr>
              <a:t>Phase 1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719072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A6ADC6"/>
                </a:solidFill>
                <a:latin typeface="Calibri"/>
              </a:rPr>
              <a:t>Russia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11247120" cy="685800"/>
          </a:xfrm>
          <a:prstGeom prst="roundRect">
            <a:avLst/>
          </a:prstGeom>
          <a:solidFill>
            <a:srgbClr val="161A35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96312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E8ECF7"/>
                </a:solidFill>
                <a:latin typeface="Calibri"/>
              </a:rPr>
              <a:t>Framingham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96312"/>
            <a:ext cx="1645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7C5CFF"/>
                </a:solidFill>
                <a:latin typeface="Calibri"/>
              </a:rPr>
              <a:t>n = 4 240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496312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A6ADC6"/>
                </a:solidFill>
                <a:latin typeface="Calibri"/>
              </a:rPr>
              <a:t>Continuous lab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496312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A6ADC6"/>
                </a:solidFill>
                <a:latin typeface="Calibri"/>
              </a:rPr>
              <a:t>USA-MA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08960"/>
            <a:ext cx="11247120" cy="685800"/>
          </a:xfrm>
          <a:prstGeom prst="roundRect">
            <a:avLst/>
          </a:prstGeom>
          <a:solidFill>
            <a:srgbClr val="161A35"/>
          </a:solidFill>
          <a:ln w="12700">
            <a:solidFill>
              <a:srgbClr val="38E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73552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E8ECF7"/>
                </a:solidFill>
                <a:latin typeface="Calibri"/>
              </a:rPr>
              <a:t>BRFSS 2022 (CDC)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73552"/>
            <a:ext cx="1645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38E1C3"/>
                </a:solidFill>
                <a:latin typeface="Calibri"/>
              </a:rPr>
              <a:t>n = ~400 000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273552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A6ADC6"/>
                </a:solidFill>
                <a:latin typeface="Calibri"/>
              </a:rPr>
              <a:t>Volume + lifestyle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273552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A6ADC6"/>
                </a:solidFill>
                <a:latin typeface="Calibri"/>
              </a:rPr>
              <a:t>USA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86200"/>
            <a:ext cx="11247120" cy="685800"/>
          </a:xfrm>
          <a:prstGeom prst="roundRect">
            <a:avLst/>
          </a:prstGeom>
          <a:solidFill>
            <a:srgbClr val="161A35"/>
          </a:solidFill>
          <a:ln w="12700">
            <a:solidFill>
              <a:srgbClr val="FF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50792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E8ECF7"/>
                </a:solidFill>
                <a:latin typeface="Calibri"/>
              </a:rPr>
              <a:t>NHANES 2017-18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050792"/>
            <a:ext cx="1645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5677"/>
                </a:solidFill>
                <a:latin typeface="Calibri"/>
              </a:rPr>
              <a:t>n = ~9 000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050792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A6ADC6"/>
                </a:solidFill>
                <a:latin typeface="Calibri"/>
              </a:rPr>
              <a:t>Lab-grade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050792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A6ADC6"/>
                </a:solidFill>
                <a:latin typeface="Calibri"/>
              </a:rPr>
              <a:t>USA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63440"/>
            <a:ext cx="11247120" cy="685800"/>
          </a:xfrm>
          <a:prstGeom prst="roundRect">
            <a:avLst/>
          </a:prstGeom>
          <a:solidFill>
            <a:srgbClr val="161A35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28032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E8ECF7"/>
                </a:solidFill>
                <a:latin typeface="Calibri"/>
              </a:rPr>
              <a:t>UCI Heart Disease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828032"/>
            <a:ext cx="1645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7C5CFF"/>
                </a:solidFill>
                <a:latin typeface="Calibri"/>
              </a:rPr>
              <a:t>n = 920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828032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A6ADC6"/>
                </a:solidFill>
                <a:latin typeface="Calibri"/>
              </a:rPr>
              <a:t>External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828032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A6ADC6"/>
                </a:solidFill>
                <a:latin typeface="Calibri"/>
              </a:rPr>
              <a:t>USA/EU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440680"/>
            <a:ext cx="11247120" cy="685800"/>
          </a:xfrm>
          <a:prstGeom prst="roundRect">
            <a:avLst/>
          </a:prstGeom>
          <a:solidFill>
            <a:srgbClr val="161A35"/>
          </a:solidFill>
          <a:ln w="12700">
            <a:solidFill>
              <a:srgbClr val="38E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605272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E8ECF7"/>
                </a:solidFill>
                <a:latin typeface="Calibri"/>
              </a:rPr>
              <a:t>Z-Alizadeh Sani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605272"/>
            <a:ext cx="1645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38E1C3"/>
                </a:solidFill>
                <a:latin typeface="Calibri"/>
              </a:rPr>
              <a:t>n = 303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605272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A6ADC6"/>
                </a:solidFill>
                <a:latin typeface="Calibri"/>
              </a:rPr>
              <a:t>Geographic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5605272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A6ADC6"/>
                </a:solidFill>
                <a:latin typeface="Calibri"/>
              </a:rPr>
              <a:t>Iran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FF5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E8ECF7"/>
                </a:solidFill>
                <a:latin typeface="Calibri"/>
              </a:rPr>
              <a:t>Phase 1 — EDA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A6ADC6"/>
                </a:solidFill>
                <a:latin typeface="Calibri"/>
              </a:rPr>
              <a:t>Seven plots, seven insights. Three that drove modelling choices: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Age effect dominates: CVD prevalence climbs from 15 % at age 40 to 70 % at age 65.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Blood-pressure bimodality: 130/85 mmHg is the inflection point — also the JNC-8 hypertension cutoff.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BMI overlap is real: obesity raises CVD risk but does not separate the classes on its own.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Cholesterol category 3 is rare (≈ 5 %) but high-leverage — a small group with very high risk.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Lifestyle (smoke/alcohol/activity) carries small individual effects but combine multiplicatively.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Leakage audit: no post-diagnosis features; all measurements are pre-classification.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Outlier removal: removed 0.4 % rows with non-physiological BP (systolic &lt; diastolic; values outside 60–250).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FF5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E8ECF7"/>
                </a:solidFill>
                <a:latin typeface="Calibri"/>
              </a:rPr>
              <a:t>Phase 1 — baseline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A6ADC6"/>
                </a:solidFill>
                <a:latin typeface="Calibri"/>
              </a:rPr>
              <a:t>Logistic Regression with engineered features. Strong baseline. Honest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743200" cy="146304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FF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ROC-AUC (val)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27432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5677"/>
                </a:solidFill>
                <a:latin typeface="Calibri"/>
              </a:rPr>
              <a:t>0.787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743200" cy="146304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38E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73736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5-fold CV 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57400"/>
            <a:ext cx="27432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38E1C3"/>
                </a:solidFill>
                <a:latin typeface="Calibri"/>
              </a:rPr>
              <a:t>0.785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45920"/>
            <a:ext cx="2743200" cy="146304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3736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Recall (CVD)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57400"/>
            <a:ext cx="27432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7C5CFF"/>
                </a:solidFill>
                <a:latin typeface="Calibri"/>
              </a:rPr>
              <a:t>0.71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645920"/>
            <a:ext cx="2743200" cy="146304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FF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73736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Cleaned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057400"/>
            <a:ext cx="27432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5677"/>
                </a:solidFill>
                <a:latin typeface="Calibri"/>
              </a:rPr>
              <a:t>68 786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832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38E1C3"/>
                </a:solidFill>
                <a:latin typeface="Calibri"/>
              </a:rPr>
              <a:t>Top features (LR coefficients):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Age (years) — single largest positive coefficient.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Systolic BP (ap_hi) — strong positive.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Cholesterol tier 3 — strong positive.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Active lifestyle — protective (negative coefficient).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Smoking + glucose tier 2/3 — moderate positive.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FF5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E8ECF7"/>
                </a:solidFill>
                <a:latin typeface="Calibri"/>
              </a:rPr>
              <a:t>Phase 2 — schema harmonisation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A6ADC6"/>
                </a:solidFill>
                <a:latin typeface="Calibri"/>
              </a:rPr>
              <a:t>All 5 cohorts mapped to one 11-feature schema + a source flag.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Continuous lab values (Framingham, NHANES) → 3-tier ordinal categories to match Kaggle.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Self-report binaries (BRFSS, NHANES) → 0/1 smoke / alcohol / active.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Each cohort tagged with a `source` feature so the model can correct for cohort drift.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Outlier filter applied uniformly: age 18–90, BMI 10–80, BP 60–250 / 30–200.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Graceful fallback: every loader skips cleanly if the source is unreachable (no execution crash).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Result: a single `df_combined` table the modelling pipeline can train and validate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FF5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E8ECF7"/>
                </a:solidFill>
                <a:latin typeface="Calibri"/>
              </a:rPr>
              <a:t>Phase 2 — multi-model retrain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A6ADC6"/>
                </a:solidFill>
                <a:latin typeface="Calibri"/>
              </a:rPr>
              <a:t>Four model families, identical preprocessing pipeline, 5-fold stratified CV.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1247120" cy="822960"/>
          </a:xfrm>
          <a:prstGeom prst="roundRect">
            <a:avLst/>
          </a:prstGeom>
          <a:solidFill>
            <a:srgbClr val="161A35"/>
          </a:solidFill>
          <a:ln w="12700">
            <a:solidFill>
              <a:srgbClr val="FF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114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8ECF7"/>
                </a:solidFill>
                <a:latin typeface="Calibri"/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1828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5677"/>
                </a:solidFill>
                <a:latin typeface="Calibri"/>
              </a:rPr>
              <a:t>AUC = 0.802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828800"/>
            <a:ext cx="4572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A6ADC6"/>
                </a:solidFill>
                <a:latin typeface="Calibri"/>
              </a:rPr>
              <a:t>fast, interpretable, calibration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11247120" cy="822960"/>
          </a:xfrm>
          <a:prstGeom prst="roundRect">
            <a:avLst/>
          </a:prstGeom>
          <a:solidFill>
            <a:srgbClr val="161A35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4114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8ECF7"/>
                </a:solidFill>
                <a:latin typeface="Calibri"/>
              </a:rP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88920"/>
            <a:ext cx="1828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7C5CFF"/>
                </a:solidFill>
                <a:latin typeface="Calibri"/>
              </a:rPr>
              <a:t>AUC = 0.822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788920"/>
            <a:ext cx="4572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A6ADC6"/>
                </a:solidFill>
                <a:latin typeface="Calibri"/>
              </a:rPr>
              <a:t>non-linear interactions, robust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11247120" cy="822960"/>
          </a:xfrm>
          <a:prstGeom prst="roundRect">
            <a:avLst/>
          </a:prstGeom>
          <a:solidFill>
            <a:srgbClr val="161A35"/>
          </a:solidFill>
          <a:ln w="12700">
            <a:solidFill>
              <a:srgbClr val="38E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49040"/>
            <a:ext cx="4114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8ECF7"/>
                </a:solidFill>
                <a:latin typeface="Calibri"/>
              </a:rPr>
              <a:t>Gradient Boosting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749040"/>
            <a:ext cx="1828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8E1C3"/>
                </a:solidFill>
                <a:latin typeface="Calibri"/>
              </a:rPr>
              <a:t>AUC = 0.828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40"/>
            <a:ext cx="4572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A6ADC6"/>
                </a:solidFill>
                <a:latin typeface="Calibri"/>
              </a:rPr>
              <a:t>strong + slower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26280"/>
            <a:ext cx="11247120" cy="822960"/>
          </a:xfrm>
          <a:prstGeom prst="roundRect">
            <a:avLst/>
          </a:prstGeom>
          <a:solidFill>
            <a:srgbClr val="161A35"/>
          </a:solidFill>
          <a:ln w="12700">
            <a:solidFill>
              <a:srgbClr val="FF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4114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8ECF7"/>
                </a:solidFill>
                <a:latin typeface="Calibri"/>
              </a:rPr>
              <a:t>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709160"/>
            <a:ext cx="1828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5677"/>
                </a:solidFill>
                <a:latin typeface="Calibri"/>
              </a:rPr>
              <a:t>AUC = 0.831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709160"/>
            <a:ext cx="4572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A6ADC6"/>
                </a:solidFill>
                <a:latin typeface="Calibri"/>
              </a:rPr>
              <a:t>tuned winner (see next slide)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FF5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E8ECF7"/>
                </a:solidFill>
                <a:latin typeface="Calibri"/>
              </a:rPr>
              <a:t>External validation — zero-shot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A6ADC6"/>
                </a:solidFill>
                <a:latin typeface="Calibri"/>
              </a:rPr>
              <a:t>Two cohorts never seen during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572000" cy="201168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38E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UCI Heart Disease (920 patients)</a:t>
            </a:r>
          </a:p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Cleveland + Hungary + Switzerland + 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5720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38E1C3"/>
                </a:solidFill>
                <a:latin typeface="Calibri"/>
              </a:rPr>
              <a:t>AUC ≈ 0.85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828800"/>
            <a:ext cx="4572000" cy="201168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Z-Alizadeh Sani (303 patients)</a:t>
            </a:r>
          </a:p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Tehran — different ethnic cohort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40280"/>
            <a:ext cx="45720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7C5CFF"/>
                </a:solidFill>
                <a:latin typeface="Calibri"/>
              </a:rPr>
              <a:t>AUC ≈ 0.78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8E1C3"/>
                </a:solidFill>
                <a:latin typeface="Calibri"/>
              </a:rPr>
              <a:t>What this tells us: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Strong generalisation to a 4-country Western cohort.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Honest drop on a Tehran cohort — geographic / ethnic bias is real and acknowledged.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Reported transparently in §15 and the Model Card.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FF5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E8ECF7"/>
                </a:solidFill>
                <a:latin typeface="Calibri"/>
              </a:rPr>
              <a:t>§17 Hyperparameter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A6ADC6"/>
                </a:solidFill>
                <a:latin typeface="Calibri"/>
              </a:rPr>
              <a:t>`RandomizedSearchCV` (30 iter × 5-fold) on the §14 best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572000" cy="182880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Untuned validation 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572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7C5CFF"/>
                </a:solidFill>
                <a:latin typeface="Calibri"/>
              </a:rPr>
              <a:t>0.831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828800"/>
            <a:ext cx="4572000" cy="182880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38E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Tuned validation 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40280"/>
            <a:ext cx="4572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38E1C3"/>
                </a:solidFill>
                <a:latin typeface="Calibri"/>
              </a:rPr>
              <a:t>0.847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F5677"/>
                </a:solidFill>
                <a:latin typeface="Calibri"/>
              </a:rPr>
              <a:t>Δ AUC = +0.016. Promoted as the production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8E1C3"/>
                </a:solidFill>
                <a:latin typeface="Calibri"/>
              </a:rPr>
              <a:t>▸  </a:t>
            </a:r>
            <a:r>
              <a:rPr sz="1500">
                <a:solidFill>
                  <a:srgbClr val="E8ECF7"/>
                </a:solidFill>
                <a:latin typeface="Calibri"/>
              </a:rPr>
              <a:t>Why randomized &gt; grid: 30 well-chosen points beat 3000 cells on the same compute.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E1C3"/>
                </a:solidFill>
                <a:latin typeface="Calibri"/>
              </a:rPr>
              <a:t>▸  </a:t>
            </a:r>
            <a:r>
              <a:rPr sz="1500">
                <a:solidFill>
                  <a:srgbClr val="E8ECF7"/>
                </a:solidFill>
                <a:latin typeface="Calibri"/>
              </a:rPr>
              <a:t>Search space tailored per family (XGB: n_estimators, depth, lr, subsample, colsample, child_weight).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E1C3"/>
                </a:solidFill>
                <a:latin typeface="Calibri"/>
              </a:rPr>
              <a:t>▸  </a:t>
            </a:r>
            <a:r>
              <a:rPr sz="1500">
                <a:solidFill>
                  <a:srgbClr val="E8ECF7"/>
                </a:solidFill>
                <a:latin typeface="Calibri"/>
              </a:rPr>
              <a:t>5-fold stratified CV inside the search; held-out 20 % set never touched.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FF5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E8ECF7"/>
                </a:solidFill>
                <a:latin typeface="Calibri"/>
              </a:rPr>
              <a:t>§18 Calibration + threshold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A6ADC6"/>
                </a:solidFill>
                <a:latin typeface="Calibri"/>
              </a:rPr>
              <a:t>AUC is not enough — we need trustworthy probabilities and the right operating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572000" cy="182880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38E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Brier score before / after isotonic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572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38E1C3"/>
                </a:solidFill>
                <a:latin typeface="Calibri"/>
              </a:rPr>
              <a:t>0.176 → 0.165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828800"/>
            <a:ext cx="4572000" cy="182880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FF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Operating threshold adopted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40280"/>
            <a:ext cx="4572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5677"/>
                </a:solidFill>
                <a:latin typeface="Calibri"/>
              </a:rPr>
              <a:t>0.32  (≥ 90 % sens.)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38E1C3"/>
                </a:solidFill>
                <a:latin typeface="Calibri"/>
              </a:rPr>
              <a:t>Three principled threshold candidates compared: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Max F1 — clinical balance.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Max Youden J = sensitivity + specificity − 1 — best overall classifier.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≥ 90 % sensitivity — the standard for screening tools where false negatives are costly.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8E1C3"/>
                </a:solidFill>
                <a:latin typeface="Calibri"/>
              </a:rPr>
              <a:t>▸  </a:t>
            </a:r>
            <a:r>
              <a:rPr sz="1600">
                <a:solidFill>
                  <a:srgbClr val="E8ECF7"/>
                </a:solidFill>
                <a:latin typeface="Calibri"/>
              </a:rPr>
              <a:t>We adopted the screening default.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FF5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E8ECF7"/>
                </a:solidFill>
                <a:latin typeface="Calibri"/>
              </a:rPr>
              <a:t>§19 Interpretability — permutation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A6ADC6"/>
                </a:solidFill>
                <a:latin typeface="Calibri"/>
              </a:rPr>
              <a:t>Model-agnostic; works for tree and linear models alike.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Age (years) — largest mean AUC drop when shuffled.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Systolic + diastolic BP — strong, complementary signals.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BMI — material but smaller; consistent with literature.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Cholesterol tier — high-leverage despite low base rate.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Active lifestyle — protective (negative direction).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Source feature absorbs cohort-specific drift — small but non-zero.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Learning curve: validation AUC still climbing at full training size → more data would help.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FF5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E8ECF7"/>
                </a:solidFill>
                <a:latin typeface="Calibri"/>
              </a:rPr>
              <a:t>§20 Subgroup fairness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A6ADC6"/>
                </a:solidFill>
                <a:latin typeface="Calibri"/>
              </a:rPr>
              <a:t>AUC / recall / PPV broken down across gender × age ×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200400" cy="164592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38E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Gender AUC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200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38E1C3"/>
                </a:solidFill>
                <a:latin typeface="Calibri"/>
              </a:rPr>
              <a:t>&lt; 0.04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200400" cy="164592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38E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Age-bucket AUC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3200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38E1C3"/>
                </a:solidFill>
                <a:latin typeface="Calibri"/>
              </a:rPr>
              <a:t>&lt; 0.05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200400" cy="164592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FF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Source-cohort AUC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40280"/>
            <a:ext cx="3200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5677"/>
                </a:solidFill>
                <a:latin typeface="Calibri"/>
              </a:rPr>
              <a:t>0.07 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Performance stable across gender and age — no clinically actionable disparity.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Framingham cohort underperforms slightly — ordinal binning is lossy for continuous labs.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Documented openly in §21 Model Card; flagged for Phase 3 mitigation via re-weighting.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FF5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E8ECF7"/>
                </a:solidFill>
                <a:latin typeface="Calibri"/>
              </a:rPr>
              <a:t>§21 Model Card — responsible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A6ADC6"/>
                </a:solidFill>
                <a:latin typeface="Calibri"/>
              </a:rPr>
              <a:t>Mitchell et al. (2019) format — what every clinical ML deployment should publish.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Intended use: outpatient triage support, not emergency / pediatric / pregnancy.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Training data: 5 cohorts pooled (~480 k rows); US-centric — generalisation outside untested.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Limitations: ordinal cholesterol/glucose, self-report lifestyle, no event-time data.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Ethics: geographic bias, self-report bias, class imbalance handled but not eliminated.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Monitoring: quarterly prevalence + drift check; calibration re-check on rolling 30-day windows.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Caveats: tail probabilities (BP &gt; 200) unreliable; web-app fallback is rule-based, not data-driven.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FF5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E8ECF7"/>
                </a:solidFill>
                <a:latin typeface="Calibri"/>
              </a:rPr>
              <a:t>HeartGuard — productised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A6ADC6"/>
                </a:solidFill>
                <a:latin typeface="Calibri"/>
              </a:rPr>
              <a:t>Flask + Ollama RAG · animated SVG · SQLite history · PDF export.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11-question questionnaire → animated risk gauge + tier-coloured banner.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Personalised exercise plan (4 risk tiers) + 7-day schedule + safety precautions.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Dietary plan with sample 1-day meal plan (breakfast / lunch / dinner / snacks).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Animated SVG icons: running, cycling, swimming, lifting, apple, fish, salad…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Assessment history with sparkline of risk over time (SQLite).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Downloadable PDF report (ReportLab) you can hand to your clinician.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E1C3"/>
                </a:solidFill>
                <a:latin typeface="Calibri"/>
              </a:rPr>
              <a:t>▸  </a:t>
            </a:r>
            <a:r>
              <a:rPr sz="1700">
                <a:solidFill>
                  <a:srgbClr val="E8ECF7"/>
                </a:solidFill>
                <a:latin typeface="Calibri"/>
              </a:rPr>
              <a:t>Ask-the-AI chatbot: TF-IDF retrieval + Ollama `minimax-m2.1:cloud` for grounded answers.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FF5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E8ECF7"/>
                </a:solidFill>
                <a:latin typeface="Calibri"/>
              </a:rPr>
              <a:t>Executive summary — final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141732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FF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Combined training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6576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5677"/>
                </a:solidFill>
                <a:latin typeface="Calibri"/>
              </a:rPr>
              <a:t>≈ 480 000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657600" cy="141732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38E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46304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Sources fused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83080"/>
            <a:ext cx="36576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38E1C3"/>
                </a:solidFill>
                <a:latin typeface="Calibri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657600" cy="141732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6304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Phase 1 baseline 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783080"/>
            <a:ext cx="36576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7C5CFF"/>
                </a:solidFill>
                <a:latin typeface="Calibri"/>
              </a:rPr>
              <a:t>0.787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80"/>
            <a:ext cx="3657600" cy="141732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38E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Phase 2 final 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37560"/>
            <a:ext cx="36576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38E1C3"/>
                </a:solidFill>
                <a:latin typeface="Calibri"/>
              </a:rPr>
              <a:t>0.847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926080"/>
            <a:ext cx="3657600" cy="141732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FF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301752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ΔAUC vs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337560"/>
            <a:ext cx="36576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5677"/>
                </a:solidFill>
                <a:latin typeface="Calibri"/>
              </a:rPr>
              <a:t>+0.060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926080"/>
            <a:ext cx="3657600" cy="141732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01752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Brier (calibrated)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37560"/>
            <a:ext cx="36576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7C5CFF"/>
                </a:solidFill>
                <a:latin typeface="Calibri"/>
              </a:rPr>
              <a:t>0.165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80560"/>
            <a:ext cx="3657600" cy="141732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38E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Sensitivity (screen)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92040"/>
            <a:ext cx="36576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38E1C3"/>
                </a:solidFill>
                <a:latin typeface="Calibri"/>
              </a:rPr>
              <a:t>0.90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480560"/>
            <a:ext cx="3657600" cy="141732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FF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457200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External UCI AUC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892040"/>
            <a:ext cx="36576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5677"/>
                </a:solidFill>
                <a:latin typeface="Calibri"/>
              </a:rPr>
              <a:t>0.85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4480560"/>
            <a:ext cx="3657600" cy="1417320"/>
          </a:xfrm>
          <a:prstGeom prst="roundRect">
            <a:avLst/>
          </a:prstGeom>
          <a:solidFill>
            <a:srgbClr val="161A35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457200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A6ADC6"/>
                </a:solidFill>
                <a:latin typeface="Calibri"/>
              </a:rPr>
              <a:t>Subgroup AUC gaps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892040"/>
            <a:ext cx="36576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7C5CFF"/>
                </a:solidFill>
                <a:latin typeface="Calibri"/>
              </a:rPr>
              <a:t>≤ 0.07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64592" cy="5852160"/>
          </a:xfrm>
          <a:prstGeom prst="rect">
            <a:avLst/>
          </a:prstGeom>
          <a:solidFill>
            <a:srgbClr val="FF5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E8ECF7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5677"/>
                </a:solidFill>
                <a:latin typeface="Calibri"/>
              </a:rPr>
              <a:t>Honest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F5677"/>
                </a:solidFill>
                <a:latin typeface="Calibri"/>
              </a:rPr>
              <a:t>▸  </a:t>
            </a:r>
            <a:r>
              <a:rPr sz="1500">
                <a:solidFill>
                  <a:srgbClr val="E8ECF7"/>
                </a:solidFill>
                <a:latin typeface="Calibri"/>
              </a:rPr>
              <a:t>Self-reported lifestyle features (noisy).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F5677"/>
                </a:solidFill>
                <a:latin typeface="Calibri"/>
              </a:rPr>
              <a:t>▸  </a:t>
            </a:r>
            <a:r>
              <a:rPr sz="1500">
                <a:solidFill>
                  <a:srgbClr val="E8ECF7"/>
                </a:solidFill>
                <a:latin typeface="Calibri"/>
              </a:rPr>
              <a:t>3-tier ordinal cholesterol/glucose loses signal.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F5677"/>
                </a:solidFill>
                <a:latin typeface="Calibri"/>
              </a:rPr>
              <a:t>▸  </a:t>
            </a:r>
            <a:r>
              <a:rPr sz="1500">
                <a:solidFill>
                  <a:srgbClr val="E8ECF7"/>
                </a:solidFill>
                <a:latin typeface="Calibri"/>
              </a:rPr>
              <a:t>No longitudinal / event-time data.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F5677"/>
                </a:solidFill>
                <a:latin typeface="Calibri"/>
              </a:rPr>
              <a:t>▸  </a:t>
            </a:r>
            <a:r>
              <a:rPr sz="1500">
                <a:solidFill>
                  <a:srgbClr val="E8ECF7"/>
                </a:solidFill>
                <a:latin typeface="Calibri"/>
              </a:rPr>
              <a:t>US-centric cohorts; SE Asian / African data untested.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F5677"/>
                </a:solidFill>
                <a:latin typeface="Calibri"/>
              </a:rPr>
              <a:t>▸  </a:t>
            </a:r>
            <a:r>
              <a:rPr sz="1500">
                <a:solidFill>
                  <a:srgbClr val="E8ECF7"/>
                </a:solidFill>
                <a:latin typeface="Calibri"/>
              </a:rPr>
              <a:t>Clinical use needs prospective trial.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058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38E1C3"/>
                </a:solidFill>
                <a:latin typeface="Calibri"/>
              </a:rPr>
              <a:t>Phase-3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8E1C3"/>
                </a:solidFill>
                <a:latin typeface="Calibri"/>
              </a:rPr>
              <a:t>▸  </a:t>
            </a:r>
            <a:r>
              <a:rPr sz="1500">
                <a:solidFill>
                  <a:srgbClr val="E8ECF7"/>
                </a:solidFill>
                <a:latin typeface="Calibri"/>
              </a:rPr>
              <a:t>Add continuous lab values (LDL/HDL/HbA1c).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E1C3"/>
                </a:solidFill>
                <a:latin typeface="Calibri"/>
              </a:rPr>
              <a:t>▸  </a:t>
            </a:r>
            <a:r>
              <a:rPr sz="1500">
                <a:solidFill>
                  <a:srgbClr val="E8ECF7"/>
                </a:solidFill>
                <a:latin typeface="Calibri"/>
              </a:rPr>
              <a:t>Cox proportional-hazards model on Framingham follow-up.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E1C3"/>
                </a:solidFill>
                <a:latin typeface="Calibri"/>
              </a:rPr>
              <a:t>▸  </a:t>
            </a:r>
            <a:r>
              <a:rPr sz="1500">
                <a:solidFill>
                  <a:srgbClr val="E8ECF7"/>
                </a:solidFill>
                <a:latin typeface="Calibri"/>
              </a:rPr>
              <a:t>Re-weight / adversarial debiasing for subgroup gaps.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E1C3"/>
                </a:solidFill>
                <a:latin typeface="Calibri"/>
              </a:rPr>
              <a:t>▸  </a:t>
            </a:r>
            <a:r>
              <a:rPr sz="1500">
                <a:solidFill>
                  <a:srgbClr val="E8ECF7"/>
                </a:solidFill>
                <a:latin typeface="Calibri"/>
              </a:rPr>
              <a:t>Drift monitoring instrumented in the Flask app.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E1C3"/>
                </a:solidFill>
                <a:latin typeface="Calibri"/>
              </a:rPr>
              <a:t>▸  </a:t>
            </a:r>
            <a:r>
              <a:rPr sz="1500">
                <a:solidFill>
                  <a:srgbClr val="E8ECF7"/>
                </a:solidFill>
                <a:latin typeface="Calibri"/>
              </a:rPr>
              <a:t>Patient longitudinal dashboard — alerts on trend.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E1C3"/>
                </a:solidFill>
                <a:latin typeface="Calibri"/>
              </a:rPr>
              <a:t>▸  </a:t>
            </a:r>
            <a:r>
              <a:rPr sz="1500">
                <a:solidFill>
                  <a:srgbClr val="E8ECF7"/>
                </a:solidFill>
                <a:latin typeface="Calibri"/>
              </a:rPr>
              <a:t>Active learning: route low-confidence to clinician.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6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0" b="0">
                <a:solidFill>
                  <a:srgbClr val="FF5677"/>
                </a:solidFill>
                <a:latin typeface="Calibri"/>
              </a:rPr>
              <a:t>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430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400" b="1">
                <a:solidFill>
                  <a:srgbClr val="E8ECF7"/>
                </a:solidFill>
                <a:latin typeface="Calibri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43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>
                <a:solidFill>
                  <a:srgbClr val="38E1C3"/>
                </a:solidFill>
                <a:latin typeface="Calibri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E8ECF7"/>
                </a:solidFill>
                <a:latin typeface="Calibri"/>
              </a:rPr>
              <a:t>Ahmed Al Sadik  ·  B00983817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0">
                <a:solidFill>
                  <a:srgbClr val="A6ADC6"/>
                </a:solidFill>
                <a:latin typeface="Calibri"/>
              </a:rPr>
              <a:t>https://github.com/s2010958184-lab/SADIKCVDFINAL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ADC6"/>
                </a:solidFill>
                <a:latin typeface="Calibri"/>
              </a:rPr>
              <a:t>Ahmed Al Sadik · B00983817 · DSA502 — Data Science with AI     |     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